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76" y="5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3242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36576" cy="6858000"/>
          </a:xfrm>
          <a:prstGeom prst="rect">
            <a:avLst/>
          </a:prstGeom>
          <a:solidFill>
            <a:srgbClr val="C9A961">
              <a:alpha val="70000"/>
            </a:srgbClr>
          </a:solidFill>
          <a:ln w="12700">
            <a:solidFill>
              <a:srgbClr val="C9A961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9326880" y="0"/>
            <a:ext cx="13716" cy="6858000"/>
          </a:xfrm>
          <a:prstGeom prst="rect">
            <a:avLst/>
          </a:prstGeom>
          <a:solidFill>
            <a:srgbClr val="C9A961">
              <a:alpha val="40000"/>
            </a:srgbClr>
          </a:solidFill>
          <a:ln w="12700">
            <a:solidFill>
              <a:srgbClr val="C9A96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9738360" y="0"/>
            <a:ext cx="13716" cy="6858000"/>
          </a:xfrm>
          <a:prstGeom prst="rect">
            <a:avLst/>
          </a:prstGeom>
          <a:solidFill>
            <a:srgbClr val="C9A961">
              <a:alpha val="25000"/>
            </a:srgbClr>
          </a:solidFill>
          <a:ln w="12700">
            <a:solidFill>
              <a:srgbClr val="C9A96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731520" y="777240"/>
            <a:ext cx="365760" cy="1828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PROPOSAL  /  2026.05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Z&amp;GLOBAL 株式会社  御中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ホームページ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リニューアル ご提案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kern="0" spc="200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Z&amp;GLOBAL  Website Renewal Proposal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— 高級ハイヤーに、ふさわしい一枚を。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5486400"/>
            <a:ext cx="3657600" cy="1828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31520" y="56235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3D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提案者  </a:t>
            </a: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FLY株式会社  </a:t>
            </a:r>
            <a:r>
              <a:rPr lang="en-US" sz="1000" i="1" dirty="0">
                <a:solidFill>
                  <a:srgbClr val="C9A9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Your Vision, Our Wings.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B3D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担当  </a:t>
            </a: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院 光雄  /  eigyo@fly-japan.jp  /  03-6674-2802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814255" y="6400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v1.0  /  2026-05-20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結論を先に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現サイトを「高級ハイヤーにふさわしい一枚」へ。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3ヶ月 / 税込 198 万円〜 / インバウンド予約導線を最重要KPIに。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6118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52400" dist="508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61188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金額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4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</a:t>
            </a:r>
            <a:r>
              <a:rPr lang="en-US" sz="1800" dirty="0">
                <a:solidFill>
                  <a:srgbClr val="0F1F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万円〜</a:t>
            </a:r>
            <a:endParaRPr lang="en-US" sz="8400" dirty="0"/>
          </a:p>
        </p:txBody>
      </p:sp>
      <p:sp>
        <p:nvSpPr>
          <p:cNvPr id="9" name="Text 7"/>
          <p:cNvSpPr/>
          <p:nvPr/>
        </p:nvSpPr>
        <p:spPr>
          <a:xfrm>
            <a:off x="914400" y="43434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基本パッケージ・税込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機能追加は別途お見積り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103120"/>
            <a:ext cx="36118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52400" dist="508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4343400" y="2103120"/>
            <a:ext cx="361188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4709160" y="24231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スケジュール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09160" y="288036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4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r>
              <a:rPr lang="en-US" sz="1800" dirty="0">
                <a:solidFill>
                  <a:srgbClr val="0F1F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ヶ月</a:t>
            </a:r>
            <a:endParaRPr lang="en-US" sz="8400" dirty="0"/>
          </a:p>
        </p:txBody>
      </p:sp>
      <p:sp>
        <p:nvSpPr>
          <p:cNvPr id="14" name="Text 12"/>
          <p:cNvSpPr/>
          <p:nvPr/>
        </p:nvSpPr>
        <p:spPr>
          <a:xfrm>
            <a:off x="4709160" y="43434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2026/06 着手 → 09 公開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週間のバッファ込み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2103120"/>
            <a:ext cx="361188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52400" dist="508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8138160" y="2103120"/>
            <a:ext cx="361188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8503920" y="24231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体制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03920" y="288036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4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r>
              <a:rPr lang="en-US" sz="1800" dirty="0">
                <a:solidFill>
                  <a:srgbClr val="0F1F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名</a:t>
            </a:r>
            <a:endParaRPr lang="en-US" sz="8400" dirty="0"/>
          </a:p>
        </p:txBody>
      </p:sp>
      <p:sp>
        <p:nvSpPr>
          <p:cNvPr id="19" name="Text 17"/>
          <p:cNvSpPr/>
          <p:nvPr/>
        </p:nvSpPr>
        <p:spPr>
          <a:xfrm>
            <a:off x="8503920" y="43434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PM / デザイナー / フロント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バックエンド / 多言語QA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486400"/>
            <a:ext cx="11109960" cy="8686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868680" y="54864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9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最重要KPI    </a:t>
            </a: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インバウンド経由のオンライン予約数  </a:t>
            </a:r>
            <a:r>
              <a:rPr lang="en-US" sz="1400" dirty="0">
                <a:solidFill>
                  <a:srgbClr val="CADC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 0件 → 月 30件 を 6ヶ月以内に。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905695" y="6537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v1.0 / 2026-05-20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417320" y="384048"/>
            <a:ext cx="18288" cy="4114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600200" y="365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ご相談頂いた経緯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HPリニューアルご提案 / Z&amp;GLOBAL株式会社 御中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905695" y="6446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v1.0 / 2026-05-20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45720" cy="36576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822960" y="128016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「中華圏のお客様からの予約が増えているのに、サイトからは取れない。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  LINEで個別対応するのも限界です。」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— 2026年4月 / 趙代表様との打ち合わせメモより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現サイトは「会社案内パンフレット」として一定の役割を果たしています。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一方、</a:t>
            </a:r>
            <a:r>
              <a:rPr lang="en-US" sz="1300" b="1" dirty="0">
                <a:solidFill>
                  <a:srgbClr val="0F1F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羽田・成田空港の利用客の30%以上がインバウンド</a:t>
            </a:r>
            <a:r>
              <a:rPr lang="en-US" sz="13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に戻ってきた今、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サイトを「受注の入口」に作り替えることで、御社の事業成長を後押しできると考えました。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80960" y="1417320"/>
            <a:ext cx="39319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7818120" y="1554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 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458200" y="16916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お問い合わせ = LINE / 電話のみ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80960" y="2834640"/>
            <a:ext cx="39319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7818120" y="2971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次 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458200" y="31089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オンライン予約 + LINE + 電話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680960" y="4251960"/>
            <a:ext cx="39319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7818120" y="4389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結 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58200" y="45262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深夜・休日でも機会損失ゼロ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417320" y="384048"/>
            <a:ext cx="18288" cy="4114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600200" y="365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現状サイトの課題分析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HPリニューアルご提案 / Z&amp;GLOBAL株式会社 御中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905695" y="6446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v1.0 / 2026-05-20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実際に www.z-global.jp を 2026/05/20 に診断した結果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361188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822960" y="1645920"/>
            <a:ext cx="640080" cy="292608"/>
          </a:xfrm>
          <a:prstGeom prst="rect">
            <a:avLst/>
          </a:prstGeom>
          <a:solidFill>
            <a:srgbClr val="B0413E"/>
          </a:solidFill>
          <a:ln w="12700">
            <a:solidFill>
              <a:srgbClr val="B0413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822960" y="164592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重大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0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2057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SSL証明書の不一致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25603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https://www.z-global.jp で証明書のホスト名エラー。Chrome / Safari で「保護されていません」表示 → 信頼性低下。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43400" y="1371600"/>
            <a:ext cx="361188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4617720" y="1645920"/>
            <a:ext cx="640080" cy="292608"/>
          </a:xfrm>
          <a:prstGeom prst="rect">
            <a:avLst/>
          </a:prstGeom>
          <a:solidFill>
            <a:srgbClr val="B0413E"/>
          </a:solidFill>
          <a:ln w="12700">
            <a:solidFill>
              <a:srgbClr val="B0413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4617720" y="164592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重大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78040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17720" y="2057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/services/ が 404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17720" y="25603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フッターから辿れる「Services」が「このページは存在しないようです」を返す。SEO・UX 両面でマイナス。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38160" y="1371600"/>
            <a:ext cx="361188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8412480" y="1645920"/>
            <a:ext cx="640080" cy="292608"/>
          </a:xfrm>
          <a:prstGeom prst="rect">
            <a:avLst/>
          </a:prstGeom>
          <a:solidFill>
            <a:srgbClr val="A8893E"/>
          </a:solidFill>
          <a:ln w="12700">
            <a:solidFill>
              <a:srgbClr val="A8893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8412480" y="164592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重要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972800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412480" y="2057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オンライン予約導線なし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12480" y="25603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受注は LINE / 電話 / メール のみ。海外旅行客は LINE 未導入が多く、現地予約のハードルが高い。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794760"/>
            <a:ext cx="361188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822960" y="4069080"/>
            <a:ext cx="640080" cy="292608"/>
          </a:xfrm>
          <a:prstGeom prst="rect">
            <a:avLst/>
          </a:prstGeom>
          <a:solidFill>
            <a:srgbClr val="A8893E"/>
          </a:solidFill>
          <a:ln w="12700">
            <a:solidFill>
              <a:srgbClr val="A8893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822960" y="40690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重要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83280" y="3977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22960" y="4480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多言語ページの薄さ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2960" y="49834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中文 / English の切替リンクはあるが翻訳ページの粒度が不揃い。インバウンド SEO の機会損失。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43400" y="3794760"/>
            <a:ext cx="361188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4617720" y="4069080"/>
            <a:ext cx="640080" cy="2926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4617720" y="40690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78040" y="3977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617720" y="4480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デザインのテンプレ感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617720" y="49834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WordPress + Elementor 標準テーマの色味のまま。「高級ハイヤー」の世界観表現が不足。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138160" y="3794760"/>
            <a:ext cx="361188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8412480" y="4069080"/>
            <a:ext cx="640080" cy="29260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8412480" y="40690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972800" y="3977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8412480" y="44805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スマホ最適化の余地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412480" y="49834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主要 CTA (LINE / 電話) はあるが、車種比較・料金確認・予約フォームのモバイル UX に改善余地。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417320" y="384048"/>
            <a:ext cx="18288" cy="4114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600200" y="365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悩みどころ ─ A案 / B案 で迷いました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HPリニューアルご提案 / Z&amp;GLOBAL株式会社 御中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905695" y="6446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v1.0 / 2026-05-20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「予算を抑える部分改修」か「事業の入口として再設計」か。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社内で議論の末、御社のフェーズと事業戦略を踏まえて B案を推奨します。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544068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868680" y="2194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案 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68680" y="26974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部分改修 (見た目だけ作り替え)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3200400"/>
            <a:ext cx="4800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3E6F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○ </a:t>
            </a:r>
            <a:r>
              <a:rPr lang="en-US" sz="12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コスト 80 万円程度 / 6 週間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3E6F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○ </a:t>
            </a:r>
            <a:r>
              <a:rPr lang="en-US" sz="12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既存 WordPress を活かせる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B0413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✗ </a:t>
            </a:r>
            <a:r>
              <a:rPr lang="en-US" sz="12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オンライン予約は別途実装が必要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B0413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✗ </a:t>
            </a:r>
            <a:r>
              <a:rPr lang="en-US" sz="12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多言語SEOは構造改修が無いと伸びない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B0413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✗ </a:t>
            </a:r>
            <a:r>
              <a:rPr lang="en-US" sz="12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2年後にもう一度フルリニューアルの可能性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715000"/>
            <a:ext cx="5440680" cy="50292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868680" y="57150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結論: 緊急の SSL ・404 だけ直すなら可。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200" y="1920240"/>
            <a:ext cx="5440680" cy="42976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77800" dist="762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10149840" y="1737360"/>
            <a:ext cx="1280160" cy="4114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10149840" y="17373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F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★ 推奨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2194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案 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492240" y="26974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受注の入口として再設計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3200400"/>
            <a:ext cx="4800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C9A9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○ </a:t>
            </a:r>
            <a:r>
              <a:rPr lang="en-US" sz="125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オンライン予約 + 決済 (Stripe) 標準搭載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C9A9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○ </a:t>
            </a:r>
            <a:r>
              <a:rPr lang="en-US" sz="125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 / 英 / 簡体字を「同じ構造」で運用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C9A9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○ </a:t>
            </a:r>
            <a:r>
              <a:rPr lang="en-US" sz="125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CMS で車両・料金・空き状況を自社更新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C9A9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○ </a:t>
            </a:r>
            <a:r>
              <a:rPr lang="en-US" sz="125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Lighthouse 90+ / SEO スコア大幅改善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C9A9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△ </a:t>
            </a:r>
            <a:r>
              <a:rPr lang="en-US" sz="1250" dirty="0">
                <a:solidFill>
                  <a:srgbClr val="CADC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初期費用は A 案の 2.5 倍 / 期間は +6 週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72200" y="5715000"/>
            <a:ext cx="5440680" cy="5029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6492240" y="57150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結論: 3年間の運用で見ると、B案の方が ROI が高い。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417320" y="384048"/>
            <a:ext cx="18288" cy="4114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600200" y="365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リニューアル 3 つの方針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HPリニューアルご提案 / Z&amp;GLOBAL株式会社 御中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905695" y="6446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v1.0 / 2026-05-20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高級ハイヤーに、ふさわしい一枚を。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361188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3611880" cy="12801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822960" y="1737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057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Trust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22960" y="2423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信頼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9718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一目で「高級ハイヤー」と分かる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74904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ダーク基調 + ゴールドの世界観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実車両・実乗務員の写真起用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お客様事例を匿名でも数字で見せる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43400" y="1554480"/>
            <a:ext cx="361188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4343400" y="1554480"/>
            <a:ext cx="3611880" cy="12801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4617720" y="1737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17720" y="2057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Convert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617720" y="2423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受注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17720" y="29718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深夜でも、海外からでも、予約が入る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17720" y="374904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オンライン予約 + Stripe 決済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LINE 予約 / 電話 / フォーム の3導線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料金シミュレータ (空港→ホテル)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38160" y="1554480"/>
            <a:ext cx="361188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270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8138160" y="1554480"/>
            <a:ext cx="3611880" cy="12801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8412480" y="17373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412480" y="2057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Global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412480" y="24231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多言語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12480" y="29718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インバウンドに、母国語で届ける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12480" y="374904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 / 英 / 簡体字 / 繁体字 4 言語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言語別 hreflang ・ 構造化データ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微信・小紅書 シェア OG 画像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417320" y="384048"/>
            <a:ext cx="18288" cy="4114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600200" y="365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新サイトマップ案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HPリニューアルご提案 / Z&amp;GLOBAL株式会社 御中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905695" y="6446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v1.0 / 2026-05-20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 17 ページ / 4 言語 = 68 ページを CMS で 1 元管理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98568" y="1463040"/>
            <a:ext cx="2194560" cy="6400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4998568" y="1463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 flipH="1">
            <a:off x="1432408" y="2103120"/>
            <a:ext cx="4663440" cy="64008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357988" y="2743200"/>
            <a:ext cx="2148840" cy="5029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357988" y="2743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サービス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9428" y="3383280"/>
            <a:ext cx="1965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40868" y="33832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空港送迎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9428" y="3794760"/>
            <a:ext cx="1965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40868" y="37947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ゴルフ送迎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9428" y="4206240"/>
            <a:ext cx="1965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540868" y="42062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観光ハイヤー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9428" y="4617720"/>
            <a:ext cx="1965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540868" y="46177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スポット利用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9428" y="5029200"/>
            <a:ext cx="1965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540868" y="502920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冠婚葬祭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flipH="1">
            <a:off x="3764128" y="2103120"/>
            <a:ext cx="2331720" cy="64008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2689708" y="2743200"/>
            <a:ext cx="2148840" cy="5029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2689708" y="2743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車両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781148" y="3383280"/>
            <a:ext cx="1965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2872588" y="33832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Alphard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81148" y="3794760"/>
            <a:ext cx="1965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2872588" y="37947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Granace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81148" y="4206240"/>
            <a:ext cx="1965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2872588" y="42062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Hiace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81148" y="4617720"/>
            <a:ext cx="1965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2872588" y="461772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車両比較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95848" y="2103120"/>
            <a:ext cx="0" cy="64008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33"/>
          <p:cNvSpPr/>
          <p:nvPr/>
        </p:nvSpPr>
        <p:spPr>
          <a:xfrm>
            <a:off x="5021428" y="2743200"/>
            <a:ext cx="2148840" cy="5029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4"/>
          <p:cNvSpPr/>
          <p:nvPr/>
        </p:nvSpPr>
        <p:spPr>
          <a:xfrm>
            <a:off x="5021428" y="2743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予約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112868" y="3383280"/>
            <a:ext cx="1965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6"/>
          <p:cNvSpPr/>
          <p:nvPr/>
        </p:nvSpPr>
        <p:spPr>
          <a:xfrm>
            <a:off x="5204308" y="33832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オンライン予約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112868" y="3794760"/>
            <a:ext cx="1965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8"/>
          <p:cNvSpPr/>
          <p:nvPr/>
        </p:nvSpPr>
        <p:spPr>
          <a:xfrm>
            <a:off x="5204308" y="37947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料金シミュレータ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112868" y="4206240"/>
            <a:ext cx="1965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Text 40"/>
          <p:cNvSpPr/>
          <p:nvPr/>
        </p:nvSpPr>
        <p:spPr>
          <a:xfrm>
            <a:off x="5204308" y="42062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よくあるご質問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095848" y="2103120"/>
            <a:ext cx="2331720" cy="64008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42"/>
          <p:cNvSpPr/>
          <p:nvPr/>
        </p:nvSpPr>
        <p:spPr>
          <a:xfrm>
            <a:off x="7353148" y="2743200"/>
            <a:ext cx="2148840" cy="5029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7353148" y="2743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会社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444588" y="3383280"/>
            <a:ext cx="1965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7536028" y="33832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会社概要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444588" y="3794760"/>
            <a:ext cx="1965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7536028" y="37947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乗務員紹介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444588" y="4206240"/>
            <a:ext cx="1965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7536028" y="42062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アクセス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095848" y="2103120"/>
            <a:ext cx="4663440" cy="64008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Shape 51"/>
          <p:cNvSpPr/>
          <p:nvPr/>
        </p:nvSpPr>
        <p:spPr>
          <a:xfrm>
            <a:off x="9684868" y="2743200"/>
            <a:ext cx="2148840" cy="5029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52"/>
          <p:cNvSpPr/>
          <p:nvPr/>
        </p:nvSpPr>
        <p:spPr>
          <a:xfrm>
            <a:off x="9684868" y="27432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採用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9776308" y="3383280"/>
            <a:ext cx="1965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Text 54"/>
          <p:cNvSpPr/>
          <p:nvPr/>
        </p:nvSpPr>
        <p:spPr>
          <a:xfrm>
            <a:off x="9867748" y="338328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募集要項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776308" y="3794760"/>
            <a:ext cx="1965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Text 56"/>
          <p:cNvSpPr/>
          <p:nvPr/>
        </p:nvSpPr>
        <p:spPr>
          <a:xfrm>
            <a:off x="9867748" y="37947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エントリー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48640" y="5852160"/>
            <a:ext cx="11109960" cy="457200"/>
          </a:xfrm>
          <a:prstGeom prst="rect">
            <a:avLst/>
          </a:prstGeom>
          <a:solidFill>
            <a:srgbClr val="F7F3EA"/>
          </a:solidFill>
          <a:ln w="635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Text 58"/>
          <p:cNvSpPr/>
          <p:nvPr/>
        </p:nvSpPr>
        <p:spPr>
          <a:xfrm>
            <a:off x="777240" y="5852160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言語切替  /  </a:t>
            </a:r>
            <a:r>
              <a:rPr lang="en-US" sz="1200" b="1" dirty="0">
                <a:solidFill>
                  <a:srgbClr val="0F1F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日本語 (ja)  ·  English (en)  ·  简体中文 (zh-Hans)  ·  繁體中文 (zh-Hant)</a:t>
            </a:r>
            <a:r>
              <a:rPr lang="en-US" sz="10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※全 17 ページ × 4 言語 = 68 ページを CMS から 1 元管理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417320" y="384048"/>
            <a:ext cx="18288" cy="4114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600200" y="365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主要機能一覧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HPリニューアルご提案 / Z&amp;GLOBAL株式会社 御中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905695" y="6446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v1.0 / 2026-05-20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「受注の入口」を支える 8 つの機能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847088"/>
            <a:ext cx="420624" cy="42062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651760" y="1691640"/>
            <a:ext cx="457200" cy="2560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2651760" y="16916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22960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オンライン予約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車種・人数・荷物数から空き照会 → 予約確定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401568" y="146304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3"/>
          <p:cNvSpPr/>
          <p:nvPr/>
        </p:nvSpPr>
        <p:spPr>
          <a:xfrm>
            <a:off x="3675888" y="1737360"/>
            <a:ext cx="640080" cy="64008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6" y="1847088"/>
            <a:ext cx="420624" cy="42062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504688" y="1691640"/>
            <a:ext cx="457200" cy="2560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5"/>
          <p:cNvSpPr/>
          <p:nvPr/>
        </p:nvSpPr>
        <p:spPr>
          <a:xfrm>
            <a:off x="5504688" y="16916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675888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Stripe 決済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3675888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クレジット / Apple Pay / Alipay / WeChat Pay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254496" y="146304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19"/>
          <p:cNvSpPr/>
          <p:nvPr/>
        </p:nvSpPr>
        <p:spPr>
          <a:xfrm>
            <a:off x="6528816" y="1737360"/>
            <a:ext cx="640080" cy="64008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1847088"/>
            <a:ext cx="420624" cy="42062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28816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LINE 公式アカウント連携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528816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予約完了通知・前日リマインド・乗務員連絡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9107424" y="146304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3"/>
          <p:cNvSpPr/>
          <p:nvPr/>
        </p:nvSpPr>
        <p:spPr>
          <a:xfrm>
            <a:off x="9381744" y="1737360"/>
            <a:ext cx="640080" cy="64008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1472" y="1847088"/>
            <a:ext cx="420624" cy="420624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11210544" y="1691640"/>
            <a:ext cx="457200" cy="2560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5"/>
          <p:cNvSpPr/>
          <p:nvPr/>
        </p:nvSpPr>
        <p:spPr>
          <a:xfrm>
            <a:off x="11210544" y="16916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9381744" y="25146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4 言語切替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9381744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hreflang / OG / sitemap を言語別に出力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548640" y="379476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9"/>
          <p:cNvSpPr/>
          <p:nvPr/>
        </p:nvSpPr>
        <p:spPr>
          <a:xfrm>
            <a:off x="822960" y="4069080"/>
            <a:ext cx="640080" cy="64008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4178808"/>
            <a:ext cx="420624" cy="420624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2651760" y="4023360"/>
            <a:ext cx="457200" cy="2560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1"/>
          <p:cNvSpPr/>
          <p:nvPr/>
        </p:nvSpPr>
        <p:spPr>
          <a:xfrm>
            <a:off x="2651760" y="40233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822960" y="4846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車両比較ツール</a:t>
            </a:r>
            <a:endParaRPr lang="en-US" sz="1400" dirty="0"/>
          </a:p>
        </p:txBody>
      </p:sp>
      <p:sp>
        <p:nvSpPr>
          <p:cNvPr id="40" name="Text 33"/>
          <p:cNvSpPr/>
          <p:nvPr/>
        </p:nvSpPr>
        <p:spPr>
          <a:xfrm>
            <a:off x="822960" y="5257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定員 / 荷物 / 価格を横並び比較</a:t>
            </a:r>
            <a:endParaRPr lang="en-US" sz="1050" dirty="0"/>
          </a:p>
        </p:txBody>
      </p:sp>
      <p:sp>
        <p:nvSpPr>
          <p:cNvPr id="41" name="Shape 34"/>
          <p:cNvSpPr/>
          <p:nvPr/>
        </p:nvSpPr>
        <p:spPr>
          <a:xfrm>
            <a:off x="3401568" y="379476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35"/>
          <p:cNvSpPr/>
          <p:nvPr/>
        </p:nvSpPr>
        <p:spPr>
          <a:xfrm>
            <a:off x="3675888" y="4069080"/>
            <a:ext cx="640080" cy="64008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85616" y="4178808"/>
            <a:ext cx="420624" cy="420624"/>
          </a:xfrm>
          <a:prstGeom prst="rect">
            <a:avLst/>
          </a:prstGeom>
        </p:spPr>
      </p:pic>
      <p:sp>
        <p:nvSpPr>
          <p:cNvPr id="44" name="Shape 36"/>
          <p:cNvSpPr/>
          <p:nvPr/>
        </p:nvSpPr>
        <p:spPr>
          <a:xfrm>
            <a:off x="5504688" y="4023360"/>
            <a:ext cx="457200" cy="2560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37"/>
          <p:cNvSpPr/>
          <p:nvPr/>
        </p:nvSpPr>
        <p:spPr>
          <a:xfrm>
            <a:off x="5504688" y="40233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3675888" y="4846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料金シミュレータ</a:t>
            </a:r>
            <a:endParaRPr lang="en-US" sz="1400" dirty="0"/>
          </a:p>
        </p:txBody>
      </p:sp>
      <p:sp>
        <p:nvSpPr>
          <p:cNvPr id="47" name="Text 39"/>
          <p:cNvSpPr/>
          <p:nvPr/>
        </p:nvSpPr>
        <p:spPr>
          <a:xfrm>
            <a:off x="3675888" y="5257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羽田・成田 → 都内ホテル の見積もり概算</a:t>
            </a:r>
            <a:endParaRPr lang="en-US" sz="1050" dirty="0"/>
          </a:p>
        </p:txBody>
      </p:sp>
      <p:sp>
        <p:nvSpPr>
          <p:cNvPr id="48" name="Shape 40"/>
          <p:cNvSpPr/>
          <p:nvPr/>
        </p:nvSpPr>
        <p:spPr>
          <a:xfrm>
            <a:off x="6254496" y="379476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9" name="Shape 41"/>
          <p:cNvSpPr/>
          <p:nvPr/>
        </p:nvSpPr>
        <p:spPr>
          <a:xfrm>
            <a:off x="6528816" y="4069080"/>
            <a:ext cx="640080" cy="64008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8544" y="4178808"/>
            <a:ext cx="420624" cy="420624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6528816" y="4846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お客様の声 CMS</a:t>
            </a:r>
            <a:endParaRPr lang="en-US" sz="1400" dirty="0"/>
          </a:p>
        </p:txBody>
      </p:sp>
      <p:sp>
        <p:nvSpPr>
          <p:cNvPr id="52" name="Text 43"/>
          <p:cNvSpPr/>
          <p:nvPr/>
        </p:nvSpPr>
        <p:spPr>
          <a:xfrm>
            <a:off x="6528816" y="5257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星評価 + 利用シーン別フィルタ</a:t>
            </a:r>
            <a:endParaRPr lang="en-US" sz="1050" dirty="0"/>
          </a:p>
        </p:txBody>
      </p:sp>
      <p:sp>
        <p:nvSpPr>
          <p:cNvPr id="53" name="Shape 44"/>
          <p:cNvSpPr/>
          <p:nvPr/>
        </p:nvSpPr>
        <p:spPr>
          <a:xfrm>
            <a:off x="9107424" y="379476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762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4" name="Shape 45"/>
          <p:cNvSpPr/>
          <p:nvPr/>
        </p:nvSpPr>
        <p:spPr>
          <a:xfrm>
            <a:off x="9381744" y="4069080"/>
            <a:ext cx="640080" cy="64008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1472" y="4178808"/>
            <a:ext cx="420624" cy="420624"/>
          </a:xfrm>
          <a:prstGeom prst="rect">
            <a:avLst/>
          </a:prstGeom>
        </p:spPr>
      </p:pic>
      <p:sp>
        <p:nvSpPr>
          <p:cNvPr id="56" name="Shape 46"/>
          <p:cNvSpPr/>
          <p:nvPr/>
        </p:nvSpPr>
        <p:spPr>
          <a:xfrm>
            <a:off x="11210544" y="4023360"/>
            <a:ext cx="457200" cy="25603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Text 47"/>
          <p:cNvSpPr/>
          <p:nvPr/>
        </p:nvSpPr>
        <p:spPr>
          <a:xfrm>
            <a:off x="11210544" y="40233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</a:t>
            </a:r>
            <a:endParaRPr lang="en-US" sz="900" dirty="0"/>
          </a:p>
        </p:txBody>
      </p:sp>
      <p:sp>
        <p:nvSpPr>
          <p:cNvPr id="58" name="Text 48"/>
          <p:cNvSpPr/>
          <p:nvPr/>
        </p:nvSpPr>
        <p:spPr>
          <a:xfrm>
            <a:off x="9381744" y="4846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管理画面 (CMS)</a:t>
            </a:r>
            <a:endParaRPr lang="en-US" sz="1400" dirty="0"/>
          </a:p>
        </p:txBody>
      </p:sp>
      <p:sp>
        <p:nvSpPr>
          <p:cNvPr id="59" name="Text 49"/>
          <p:cNvSpPr/>
          <p:nvPr/>
        </p:nvSpPr>
        <p:spPr>
          <a:xfrm>
            <a:off x="9381744" y="5257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車両 / 料金 / お知らせ / 空き枠 を自社更新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417320" y="384048"/>
            <a:ext cx="18288" cy="4114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600200" y="365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デザイン方向性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HPリニューアルご提案 / Z&amp;GLOBAL株式会社 御中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905695" y="6446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v1.0 / 2026-05-20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カラーパレット &amp; タイポグラフィ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188720" cy="1463040"/>
          </a:xfrm>
          <a:prstGeom prst="rect">
            <a:avLst/>
          </a:prstGeom>
          <a:solidFill>
            <a:srgbClr val="0F1F3D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#0F1F3D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F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Deep Navy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429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基調色 / 70%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74520" y="1463040"/>
            <a:ext cx="1188720" cy="1463040"/>
          </a:xfrm>
          <a:prstGeom prst="rect">
            <a:avLst/>
          </a:prstGeom>
          <a:solidFill>
            <a:srgbClr val="C9A961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1874520" y="29718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#C9A961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74520" y="3200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F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Champagne Gold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74520" y="3429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アクセント / 8%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1463040"/>
            <a:ext cx="1188720" cy="1463040"/>
          </a:xfrm>
          <a:prstGeom prst="rect">
            <a:avLst/>
          </a:prstGeom>
          <a:solidFill>
            <a:srgbClr val="F7F3EA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3200400" y="29718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#F7F3EA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0" y="3200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F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Warm Cream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3429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背景 / 18%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26280" y="1463040"/>
            <a:ext cx="1188720" cy="1463040"/>
          </a:xfrm>
          <a:prstGeom prst="rect">
            <a:avLst/>
          </a:prstGeom>
          <a:solidFill>
            <a:srgbClr val="1F293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4526280" y="29718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#1F2937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26280" y="3200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F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Ink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26280" y="3429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本文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852160" y="1463040"/>
            <a:ext cx="11887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5852160" y="29718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#FFFFFF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52160" y="3200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F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White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52160" y="34290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カード地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80960" y="1463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タイポグラフィ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680960" y="1828800"/>
            <a:ext cx="40233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7818120" y="18745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Z&amp;GLOBAL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7818120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Yu Mincho — 見出し / 数字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818120" y="2788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世界に誇れる最高のホスピタリティ。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818120" y="3200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Yu Gothic UI — 本文 / UI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3794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TOP ページ ワイヤーフレーム  (ラフ案)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4160520"/>
            <a:ext cx="111099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548640" y="4160520"/>
            <a:ext cx="11109960" cy="2743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731520" y="4160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Z&amp;GLOBAL    SERVICE  FLEET  BOOK  COMPANY    JP / EN / 中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8640" y="4434840"/>
            <a:ext cx="6858000" cy="1463040"/>
          </a:xfrm>
          <a:prstGeom prst="rect">
            <a:avLst/>
          </a:prstGeom>
          <a:solidFill>
            <a:srgbClr val="2A3957"/>
          </a:solidFill>
          <a:ln w="12700">
            <a:solidFill>
              <a:srgbClr val="2A39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731520" y="4526280"/>
            <a:ext cx="6492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A9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実車両ヒーロー画像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C9A9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+ コピー「— 高級ハイヤーに、ふさわしい一枚を。」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498080" y="4434840"/>
            <a:ext cx="4160520" cy="1463040"/>
          </a:xfrm>
          <a:prstGeom prst="rect">
            <a:avLst/>
          </a:prstGeom>
          <a:solidFill>
            <a:srgbClr val="F7F3EA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7635240" y="452628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F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クイック予約パネル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F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出発地 / 目的地 / 日時 / 人数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F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[ 空き照会 ]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5943600"/>
            <a:ext cx="3611880" cy="347472"/>
          </a:xfrm>
          <a:prstGeom prst="rect">
            <a:avLst/>
          </a:prstGeom>
          <a:solidFill>
            <a:srgbClr val="F0EDE5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548640" y="594360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F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空港送迎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343400" y="5943600"/>
            <a:ext cx="3611880" cy="347472"/>
          </a:xfrm>
          <a:prstGeom prst="rect">
            <a:avLst/>
          </a:prstGeom>
          <a:solidFill>
            <a:srgbClr val="F0EDE5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4343400" y="594360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F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ゴルフ送迎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138160" y="5943600"/>
            <a:ext cx="3611880" cy="347472"/>
          </a:xfrm>
          <a:prstGeom prst="rect">
            <a:avLst/>
          </a:prstGeom>
          <a:solidFill>
            <a:srgbClr val="F0EDE5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8138160" y="594360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F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観光ハイヤー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961120" y="3611880"/>
            <a:ext cx="2697480" cy="457200"/>
          </a:xfrm>
          <a:prstGeom prst="rect">
            <a:avLst/>
          </a:prstGeom>
          <a:solidFill>
            <a:srgbClr val="FFF5CC"/>
          </a:solidFill>
          <a:ln w="6350">
            <a:solidFill>
              <a:srgbClr val="E5C95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8961120" y="3611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79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実画像撮影は7月予定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417320" y="384048"/>
            <a:ext cx="18288" cy="4114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600200" y="365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導入効果 (KPI 予測)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HPリニューアルご提案 / Z&amp;GLOBAL株式会社 御中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905695" y="6446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v1.0 / 2026-05-20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リニューアル後 6 ヶ月の到達目安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27432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オンライン予約数 / 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413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× 現在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r>
              <a:rPr lang="en-US" sz="11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件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77240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6F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○ 6 ヶ月後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200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r>
              <a:rPr lang="en-US" sz="1300" dirty="0">
                <a:solidFill>
                  <a:srgbClr val="0F1F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件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2743200" cy="4114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548640" y="3794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F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+30 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01568" y="1463040"/>
            <a:ext cx="27432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3630168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海外 (中・英) 流入比率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30168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413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× 現在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30168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r>
              <a:rPr lang="en-US" sz="11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630168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6F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○ 6 ヶ月後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30168" y="3200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r>
              <a:rPr lang="en-US" sz="1300" dirty="0">
                <a:solidFill>
                  <a:srgbClr val="0F1F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%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3401568" y="3794760"/>
            <a:ext cx="2743200" cy="4114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3401568" y="3794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F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+27 pt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54496" y="1463040"/>
            <a:ext cx="27432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6483096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Lighthouse Performance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83096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413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× 現在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83096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</a:t>
            </a:r>
            <a:r>
              <a:rPr lang="en-US" sz="11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点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483096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6F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○ 6 ヶ月後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83096" y="3200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</a:t>
            </a:r>
            <a:r>
              <a:rPr lang="en-US" sz="1300" dirty="0">
                <a:solidFill>
                  <a:srgbClr val="0F1F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点</a:t>
            </a:r>
            <a:endParaRPr lang="en-US" sz="3200" dirty="0"/>
          </a:p>
        </p:txBody>
      </p:sp>
      <p:sp>
        <p:nvSpPr>
          <p:cNvPr id="30" name="Shape 28"/>
          <p:cNvSpPr/>
          <p:nvPr/>
        </p:nvSpPr>
        <p:spPr>
          <a:xfrm>
            <a:off x="6254496" y="3794760"/>
            <a:ext cx="2743200" cy="4114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6254496" y="3794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F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+40 点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107424" y="1463040"/>
            <a:ext cx="27432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9336024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電話の取りこぼし時間帯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336024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413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× 現在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336024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夜・休</a:t>
            </a:r>
            <a:r>
              <a:rPr lang="en-US" sz="11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9336024" y="2971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E6F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○ 6 ヶ月後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336024" y="3200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r>
              <a:rPr lang="en-US" sz="1300" dirty="0">
                <a:solidFill>
                  <a:srgbClr val="0F1F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</a:t>
            </a:r>
            <a:endParaRPr lang="en-US" sz="3200" dirty="0"/>
          </a:p>
        </p:txBody>
      </p:sp>
      <p:sp>
        <p:nvSpPr>
          <p:cNvPr id="38" name="Shape 36"/>
          <p:cNvSpPr/>
          <p:nvPr/>
        </p:nvSpPr>
        <p:spPr>
          <a:xfrm>
            <a:off x="9107424" y="3794760"/>
            <a:ext cx="2743200" cy="4114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9107424" y="3794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F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解消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4617720"/>
            <a:ext cx="11109960" cy="16916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868680" y="4754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9A9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売上インパクト試算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68680" y="512064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 30 件 × 平均単価 25,000 円 = </a:t>
            </a:r>
            <a:r>
              <a:rPr lang="en-US" sz="2200" b="1" dirty="0">
                <a:solidFill>
                  <a:srgbClr val="C9A9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 +75 万円</a:t>
            </a:r>
            <a:r>
              <a:rPr lang="en-US" sz="16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</a:t>
            </a:r>
            <a:r>
              <a:rPr lang="en-US" sz="1600" dirty="0">
                <a:solidFill>
                  <a:srgbClr val="CADC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/ 年 +900 万円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初期投資 198 万円は </a:t>
            </a:r>
            <a:r>
              <a:rPr lang="en-US" sz="1400" b="1" dirty="0">
                <a:solidFill>
                  <a:srgbClr val="C9A9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約 2.6 ヶ月で回収</a:t>
            </a:r>
            <a:r>
              <a:rPr lang="en-US" sz="1300" dirty="0">
                <a:solidFill>
                  <a:srgbClr val="A8B3D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の見込み (粗利は別途試算)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417320" y="384048"/>
            <a:ext cx="18288" cy="4114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600200" y="365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ここで一度、ご質問は?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HPリニューアルご提案 / Z&amp;GLOBAL株式会社 御中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905695" y="6446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v1.0 / 2026-05-20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0" y="1188720"/>
            <a:ext cx="1219169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0" b="1" dirty="0">
                <a:solidFill>
                  <a:srgbClr val="C9A96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?</a:t>
            </a:r>
            <a:endParaRPr lang="en-US" sz="17000" dirty="0"/>
          </a:p>
        </p:txBody>
      </p:sp>
      <p:sp>
        <p:nvSpPr>
          <p:cNvPr id="8" name="Text 6"/>
          <p:cNvSpPr/>
          <p:nvPr/>
        </p:nvSpPr>
        <p:spPr>
          <a:xfrm>
            <a:off x="0" y="38404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ここまでで気になる点はありますか?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0" y="44805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— 次のスライドからは「スケジュール・お見積もり・体制」に入ります。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0" y="5120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Q. 既存の WordPress 記事は引き継げますか?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5486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Q. 公開後の運用は誰が担当しますか?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0" y="5852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Q. 多言語の翻訳精度はどう担保しますか?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417320" y="384048"/>
            <a:ext cx="18288" cy="4114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600200" y="365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スケジュール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HPリニューアルご提案 / Z&amp;GLOBAL株式会社 御中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905695" y="6446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v1.0 / 2026-05-20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2026 年 6 月 着手 → 9 月 公開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 13 週間 (バッファ 2 週間込み)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週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828800"/>
            <a:ext cx="633046" cy="411480"/>
          </a:xfrm>
          <a:prstGeom prst="rect">
            <a:avLst/>
          </a:prstGeom>
          <a:solidFill>
            <a:srgbClr val="F7F3EA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3383280" y="1828800"/>
            <a:ext cx="6330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016326" y="1828800"/>
            <a:ext cx="633046" cy="411480"/>
          </a:xfrm>
          <a:prstGeom prst="rect">
            <a:avLst/>
          </a:prstGeom>
          <a:solidFill>
            <a:srgbClr val="FAF8F3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4016326" y="1828800"/>
            <a:ext cx="6330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49372" y="1828800"/>
            <a:ext cx="633046" cy="411480"/>
          </a:xfrm>
          <a:prstGeom prst="rect">
            <a:avLst/>
          </a:prstGeom>
          <a:solidFill>
            <a:srgbClr val="FAF8F3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649372" y="1828800"/>
            <a:ext cx="6330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W3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282418" y="1828800"/>
            <a:ext cx="633046" cy="411480"/>
          </a:xfrm>
          <a:prstGeom prst="rect">
            <a:avLst/>
          </a:prstGeom>
          <a:solidFill>
            <a:srgbClr val="FAF8F3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282418" y="1828800"/>
            <a:ext cx="6330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W4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915465" y="1828800"/>
            <a:ext cx="633046" cy="411480"/>
          </a:xfrm>
          <a:prstGeom prst="rect">
            <a:avLst/>
          </a:prstGeom>
          <a:solidFill>
            <a:srgbClr val="F7F3EA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5915465" y="1828800"/>
            <a:ext cx="6330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W5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548511" y="1828800"/>
            <a:ext cx="633046" cy="411480"/>
          </a:xfrm>
          <a:prstGeom prst="rect">
            <a:avLst/>
          </a:prstGeom>
          <a:solidFill>
            <a:srgbClr val="FAF8F3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548511" y="1828800"/>
            <a:ext cx="6330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W6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181557" y="1828800"/>
            <a:ext cx="633046" cy="411480"/>
          </a:xfrm>
          <a:prstGeom prst="rect">
            <a:avLst/>
          </a:prstGeom>
          <a:solidFill>
            <a:srgbClr val="FAF8F3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7181557" y="1828800"/>
            <a:ext cx="6330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W7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814603" y="1828800"/>
            <a:ext cx="633046" cy="411480"/>
          </a:xfrm>
          <a:prstGeom prst="rect">
            <a:avLst/>
          </a:prstGeom>
          <a:solidFill>
            <a:srgbClr val="FAF8F3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7814603" y="1828800"/>
            <a:ext cx="6330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W8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447649" y="1828800"/>
            <a:ext cx="633046" cy="411480"/>
          </a:xfrm>
          <a:prstGeom prst="rect">
            <a:avLst/>
          </a:prstGeom>
          <a:solidFill>
            <a:srgbClr val="F7F3EA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8447649" y="1828800"/>
            <a:ext cx="6330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W9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080695" y="1828800"/>
            <a:ext cx="633046" cy="411480"/>
          </a:xfrm>
          <a:prstGeom prst="rect">
            <a:avLst/>
          </a:prstGeom>
          <a:solidFill>
            <a:srgbClr val="FAF8F3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9080695" y="1828800"/>
            <a:ext cx="6330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W10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713742" y="1828800"/>
            <a:ext cx="633046" cy="411480"/>
          </a:xfrm>
          <a:prstGeom prst="rect">
            <a:avLst/>
          </a:prstGeom>
          <a:solidFill>
            <a:srgbClr val="FAF8F3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9713742" y="1828800"/>
            <a:ext cx="6330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W11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0346788" y="1828800"/>
            <a:ext cx="633046" cy="411480"/>
          </a:xfrm>
          <a:prstGeom prst="rect">
            <a:avLst/>
          </a:prstGeom>
          <a:solidFill>
            <a:srgbClr val="FAF8F3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10346788" y="1828800"/>
            <a:ext cx="6330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W12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0979834" y="1828800"/>
            <a:ext cx="633046" cy="411480"/>
          </a:xfrm>
          <a:prstGeom prst="rect">
            <a:avLst/>
          </a:prstGeom>
          <a:solidFill>
            <a:srgbClr val="F7F3EA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10979834" y="1828800"/>
            <a:ext cx="6330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W13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8640" y="2240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01. 要件定義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383280" y="2240280"/>
            <a:ext cx="633046" cy="411480"/>
          </a:xfrm>
          <a:prstGeom prst="rect">
            <a:avLst/>
          </a:prstGeom>
          <a:solidFill>
            <a:srgbClr val="F5F5F0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Shape 36"/>
          <p:cNvSpPr/>
          <p:nvPr/>
        </p:nvSpPr>
        <p:spPr>
          <a:xfrm>
            <a:off x="4016326" y="224028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7"/>
          <p:cNvSpPr/>
          <p:nvPr/>
        </p:nvSpPr>
        <p:spPr>
          <a:xfrm>
            <a:off x="4649372" y="224028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5282418" y="224028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Shape 39"/>
          <p:cNvSpPr/>
          <p:nvPr/>
        </p:nvSpPr>
        <p:spPr>
          <a:xfrm>
            <a:off x="5915465" y="2240280"/>
            <a:ext cx="633046" cy="411480"/>
          </a:xfrm>
          <a:prstGeom prst="rect">
            <a:avLst/>
          </a:prstGeom>
          <a:solidFill>
            <a:srgbClr val="F5F5F0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40"/>
          <p:cNvSpPr/>
          <p:nvPr/>
        </p:nvSpPr>
        <p:spPr>
          <a:xfrm>
            <a:off x="6548511" y="224028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Shape 41"/>
          <p:cNvSpPr/>
          <p:nvPr/>
        </p:nvSpPr>
        <p:spPr>
          <a:xfrm>
            <a:off x="7181557" y="224028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Shape 42"/>
          <p:cNvSpPr/>
          <p:nvPr/>
        </p:nvSpPr>
        <p:spPr>
          <a:xfrm>
            <a:off x="7814603" y="224028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43"/>
          <p:cNvSpPr/>
          <p:nvPr/>
        </p:nvSpPr>
        <p:spPr>
          <a:xfrm>
            <a:off x="8447649" y="2240280"/>
            <a:ext cx="633046" cy="411480"/>
          </a:xfrm>
          <a:prstGeom prst="rect">
            <a:avLst/>
          </a:prstGeom>
          <a:solidFill>
            <a:srgbClr val="F5F5F0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Shape 44"/>
          <p:cNvSpPr/>
          <p:nvPr/>
        </p:nvSpPr>
        <p:spPr>
          <a:xfrm>
            <a:off x="9080695" y="224028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Shape 45"/>
          <p:cNvSpPr/>
          <p:nvPr/>
        </p:nvSpPr>
        <p:spPr>
          <a:xfrm>
            <a:off x="9713742" y="224028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8" name="Shape 46"/>
          <p:cNvSpPr/>
          <p:nvPr/>
        </p:nvSpPr>
        <p:spPr>
          <a:xfrm>
            <a:off x="10346788" y="224028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Shape 47"/>
          <p:cNvSpPr/>
          <p:nvPr/>
        </p:nvSpPr>
        <p:spPr>
          <a:xfrm>
            <a:off x="10979834" y="2240280"/>
            <a:ext cx="633046" cy="411480"/>
          </a:xfrm>
          <a:prstGeom prst="rect">
            <a:avLst/>
          </a:prstGeom>
          <a:solidFill>
            <a:srgbClr val="F5F5F0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0" name="Shape 48"/>
          <p:cNvSpPr/>
          <p:nvPr/>
        </p:nvSpPr>
        <p:spPr>
          <a:xfrm>
            <a:off x="3419856" y="2313432"/>
            <a:ext cx="1192940" cy="265176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548640" y="2651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02. デザイン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383280" y="2651760"/>
            <a:ext cx="633046" cy="411480"/>
          </a:xfrm>
          <a:prstGeom prst="rect">
            <a:avLst/>
          </a:prstGeom>
          <a:solidFill>
            <a:srgbClr val="F5F5F0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Shape 51"/>
          <p:cNvSpPr/>
          <p:nvPr/>
        </p:nvSpPr>
        <p:spPr>
          <a:xfrm>
            <a:off x="4016326" y="265176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Shape 52"/>
          <p:cNvSpPr/>
          <p:nvPr/>
        </p:nvSpPr>
        <p:spPr>
          <a:xfrm>
            <a:off x="4649372" y="265176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Shape 53"/>
          <p:cNvSpPr/>
          <p:nvPr/>
        </p:nvSpPr>
        <p:spPr>
          <a:xfrm>
            <a:off x="5282418" y="265176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Shape 54"/>
          <p:cNvSpPr/>
          <p:nvPr/>
        </p:nvSpPr>
        <p:spPr>
          <a:xfrm>
            <a:off x="5915465" y="2651760"/>
            <a:ext cx="633046" cy="411480"/>
          </a:xfrm>
          <a:prstGeom prst="rect">
            <a:avLst/>
          </a:prstGeom>
          <a:solidFill>
            <a:srgbClr val="F5F5F0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Shape 55"/>
          <p:cNvSpPr/>
          <p:nvPr/>
        </p:nvSpPr>
        <p:spPr>
          <a:xfrm>
            <a:off x="6548511" y="265176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Shape 56"/>
          <p:cNvSpPr/>
          <p:nvPr/>
        </p:nvSpPr>
        <p:spPr>
          <a:xfrm>
            <a:off x="7181557" y="265176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Shape 57"/>
          <p:cNvSpPr/>
          <p:nvPr/>
        </p:nvSpPr>
        <p:spPr>
          <a:xfrm>
            <a:off x="7814603" y="265176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0" name="Shape 58"/>
          <p:cNvSpPr/>
          <p:nvPr/>
        </p:nvSpPr>
        <p:spPr>
          <a:xfrm>
            <a:off x="8447649" y="2651760"/>
            <a:ext cx="633046" cy="411480"/>
          </a:xfrm>
          <a:prstGeom prst="rect">
            <a:avLst/>
          </a:prstGeom>
          <a:solidFill>
            <a:srgbClr val="F5F5F0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Shape 59"/>
          <p:cNvSpPr/>
          <p:nvPr/>
        </p:nvSpPr>
        <p:spPr>
          <a:xfrm>
            <a:off x="9080695" y="265176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60"/>
          <p:cNvSpPr/>
          <p:nvPr/>
        </p:nvSpPr>
        <p:spPr>
          <a:xfrm>
            <a:off x="9713742" y="265176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Shape 61"/>
          <p:cNvSpPr/>
          <p:nvPr/>
        </p:nvSpPr>
        <p:spPr>
          <a:xfrm>
            <a:off x="10346788" y="265176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Shape 62"/>
          <p:cNvSpPr/>
          <p:nvPr/>
        </p:nvSpPr>
        <p:spPr>
          <a:xfrm>
            <a:off x="10979834" y="2651760"/>
            <a:ext cx="633046" cy="411480"/>
          </a:xfrm>
          <a:prstGeom prst="rect">
            <a:avLst/>
          </a:prstGeom>
          <a:solidFill>
            <a:srgbClr val="F5F5F0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Shape 63"/>
          <p:cNvSpPr/>
          <p:nvPr/>
        </p:nvSpPr>
        <p:spPr>
          <a:xfrm>
            <a:off x="4685948" y="2724912"/>
            <a:ext cx="1825986" cy="265176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64"/>
          <p:cNvSpPr/>
          <p:nvPr/>
        </p:nvSpPr>
        <p:spPr>
          <a:xfrm>
            <a:off x="548640" y="3063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03. 多言語 ライティング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383280" y="3063240"/>
            <a:ext cx="633046" cy="411480"/>
          </a:xfrm>
          <a:prstGeom prst="rect">
            <a:avLst/>
          </a:prstGeom>
          <a:solidFill>
            <a:srgbClr val="F5F5F0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8" name="Shape 66"/>
          <p:cNvSpPr/>
          <p:nvPr/>
        </p:nvSpPr>
        <p:spPr>
          <a:xfrm>
            <a:off x="4016326" y="306324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" name="Shape 67"/>
          <p:cNvSpPr/>
          <p:nvPr/>
        </p:nvSpPr>
        <p:spPr>
          <a:xfrm>
            <a:off x="4649372" y="306324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0" name="Shape 68"/>
          <p:cNvSpPr/>
          <p:nvPr/>
        </p:nvSpPr>
        <p:spPr>
          <a:xfrm>
            <a:off x="5282418" y="306324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69"/>
          <p:cNvSpPr/>
          <p:nvPr/>
        </p:nvSpPr>
        <p:spPr>
          <a:xfrm>
            <a:off x="5915465" y="3063240"/>
            <a:ext cx="633046" cy="411480"/>
          </a:xfrm>
          <a:prstGeom prst="rect">
            <a:avLst/>
          </a:prstGeom>
          <a:solidFill>
            <a:srgbClr val="F5F5F0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Shape 70"/>
          <p:cNvSpPr/>
          <p:nvPr/>
        </p:nvSpPr>
        <p:spPr>
          <a:xfrm>
            <a:off x="6548511" y="306324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3" name="Shape 71"/>
          <p:cNvSpPr/>
          <p:nvPr/>
        </p:nvSpPr>
        <p:spPr>
          <a:xfrm>
            <a:off x="7181557" y="306324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4" name="Shape 72"/>
          <p:cNvSpPr/>
          <p:nvPr/>
        </p:nvSpPr>
        <p:spPr>
          <a:xfrm>
            <a:off x="7814603" y="306324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5" name="Shape 73"/>
          <p:cNvSpPr/>
          <p:nvPr/>
        </p:nvSpPr>
        <p:spPr>
          <a:xfrm>
            <a:off x="8447649" y="3063240"/>
            <a:ext cx="633046" cy="411480"/>
          </a:xfrm>
          <a:prstGeom prst="rect">
            <a:avLst/>
          </a:prstGeom>
          <a:solidFill>
            <a:srgbClr val="F5F5F0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6" name="Shape 74"/>
          <p:cNvSpPr/>
          <p:nvPr/>
        </p:nvSpPr>
        <p:spPr>
          <a:xfrm>
            <a:off x="9080695" y="306324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7" name="Shape 75"/>
          <p:cNvSpPr/>
          <p:nvPr/>
        </p:nvSpPr>
        <p:spPr>
          <a:xfrm>
            <a:off x="9713742" y="306324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8" name="Shape 76"/>
          <p:cNvSpPr/>
          <p:nvPr/>
        </p:nvSpPr>
        <p:spPr>
          <a:xfrm>
            <a:off x="10346788" y="306324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9" name="Shape 77"/>
          <p:cNvSpPr/>
          <p:nvPr/>
        </p:nvSpPr>
        <p:spPr>
          <a:xfrm>
            <a:off x="10979834" y="3063240"/>
            <a:ext cx="633046" cy="411480"/>
          </a:xfrm>
          <a:prstGeom prst="rect">
            <a:avLst/>
          </a:prstGeom>
          <a:solidFill>
            <a:srgbClr val="F5F5F0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0" name="Shape 78"/>
          <p:cNvSpPr/>
          <p:nvPr/>
        </p:nvSpPr>
        <p:spPr>
          <a:xfrm>
            <a:off x="5318994" y="3136392"/>
            <a:ext cx="2459033" cy="265176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1" name="Text 79"/>
          <p:cNvSpPr/>
          <p:nvPr/>
        </p:nvSpPr>
        <p:spPr>
          <a:xfrm>
            <a:off x="548640" y="3474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04. 実装 (フロント)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3383280" y="3474720"/>
            <a:ext cx="633046" cy="411480"/>
          </a:xfrm>
          <a:prstGeom prst="rect">
            <a:avLst/>
          </a:prstGeom>
          <a:solidFill>
            <a:srgbClr val="F5F5F0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3" name="Shape 81"/>
          <p:cNvSpPr/>
          <p:nvPr/>
        </p:nvSpPr>
        <p:spPr>
          <a:xfrm>
            <a:off x="4016326" y="347472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4" name="Shape 82"/>
          <p:cNvSpPr/>
          <p:nvPr/>
        </p:nvSpPr>
        <p:spPr>
          <a:xfrm>
            <a:off x="4649372" y="347472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5" name="Shape 83"/>
          <p:cNvSpPr/>
          <p:nvPr/>
        </p:nvSpPr>
        <p:spPr>
          <a:xfrm>
            <a:off x="5282418" y="347472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6" name="Shape 84"/>
          <p:cNvSpPr/>
          <p:nvPr/>
        </p:nvSpPr>
        <p:spPr>
          <a:xfrm>
            <a:off x="5915465" y="3474720"/>
            <a:ext cx="633046" cy="411480"/>
          </a:xfrm>
          <a:prstGeom prst="rect">
            <a:avLst/>
          </a:prstGeom>
          <a:solidFill>
            <a:srgbClr val="F5F5F0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7" name="Shape 85"/>
          <p:cNvSpPr/>
          <p:nvPr/>
        </p:nvSpPr>
        <p:spPr>
          <a:xfrm>
            <a:off x="6548511" y="347472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8" name="Shape 86"/>
          <p:cNvSpPr/>
          <p:nvPr/>
        </p:nvSpPr>
        <p:spPr>
          <a:xfrm>
            <a:off x="7181557" y="347472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9" name="Shape 87"/>
          <p:cNvSpPr/>
          <p:nvPr/>
        </p:nvSpPr>
        <p:spPr>
          <a:xfrm>
            <a:off x="7814603" y="347472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0" name="Shape 88"/>
          <p:cNvSpPr/>
          <p:nvPr/>
        </p:nvSpPr>
        <p:spPr>
          <a:xfrm>
            <a:off x="8447649" y="3474720"/>
            <a:ext cx="633046" cy="411480"/>
          </a:xfrm>
          <a:prstGeom prst="rect">
            <a:avLst/>
          </a:prstGeom>
          <a:solidFill>
            <a:srgbClr val="F5F5F0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1" name="Shape 89"/>
          <p:cNvSpPr/>
          <p:nvPr/>
        </p:nvSpPr>
        <p:spPr>
          <a:xfrm>
            <a:off x="9080695" y="347472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2" name="Shape 90"/>
          <p:cNvSpPr/>
          <p:nvPr/>
        </p:nvSpPr>
        <p:spPr>
          <a:xfrm>
            <a:off x="9713742" y="347472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3" name="Shape 91"/>
          <p:cNvSpPr/>
          <p:nvPr/>
        </p:nvSpPr>
        <p:spPr>
          <a:xfrm>
            <a:off x="10346788" y="347472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4" name="Shape 92"/>
          <p:cNvSpPr/>
          <p:nvPr/>
        </p:nvSpPr>
        <p:spPr>
          <a:xfrm>
            <a:off x="10979834" y="3474720"/>
            <a:ext cx="633046" cy="411480"/>
          </a:xfrm>
          <a:prstGeom prst="rect">
            <a:avLst/>
          </a:prstGeom>
          <a:solidFill>
            <a:srgbClr val="F5F5F0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5" name="Shape 93"/>
          <p:cNvSpPr/>
          <p:nvPr/>
        </p:nvSpPr>
        <p:spPr>
          <a:xfrm>
            <a:off x="5952041" y="3547872"/>
            <a:ext cx="2459033" cy="265176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6" name="Text 94"/>
          <p:cNvSpPr/>
          <p:nvPr/>
        </p:nvSpPr>
        <p:spPr>
          <a:xfrm>
            <a:off x="548640" y="3886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05. 実装 (CMS / 予約)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3383280" y="3886200"/>
            <a:ext cx="633046" cy="411480"/>
          </a:xfrm>
          <a:prstGeom prst="rect">
            <a:avLst/>
          </a:prstGeom>
          <a:solidFill>
            <a:srgbClr val="F5F5F0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8" name="Shape 96"/>
          <p:cNvSpPr/>
          <p:nvPr/>
        </p:nvSpPr>
        <p:spPr>
          <a:xfrm>
            <a:off x="4016326" y="388620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9" name="Shape 97"/>
          <p:cNvSpPr/>
          <p:nvPr/>
        </p:nvSpPr>
        <p:spPr>
          <a:xfrm>
            <a:off x="4649372" y="388620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0" name="Shape 98"/>
          <p:cNvSpPr/>
          <p:nvPr/>
        </p:nvSpPr>
        <p:spPr>
          <a:xfrm>
            <a:off x="5282418" y="388620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1" name="Shape 99"/>
          <p:cNvSpPr/>
          <p:nvPr/>
        </p:nvSpPr>
        <p:spPr>
          <a:xfrm>
            <a:off x="5915465" y="3886200"/>
            <a:ext cx="633046" cy="411480"/>
          </a:xfrm>
          <a:prstGeom prst="rect">
            <a:avLst/>
          </a:prstGeom>
          <a:solidFill>
            <a:srgbClr val="F5F5F0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2" name="Shape 100"/>
          <p:cNvSpPr/>
          <p:nvPr/>
        </p:nvSpPr>
        <p:spPr>
          <a:xfrm>
            <a:off x="6548511" y="388620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3" name="Shape 101"/>
          <p:cNvSpPr/>
          <p:nvPr/>
        </p:nvSpPr>
        <p:spPr>
          <a:xfrm>
            <a:off x="7181557" y="388620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4" name="Shape 102"/>
          <p:cNvSpPr/>
          <p:nvPr/>
        </p:nvSpPr>
        <p:spPr>
          <a:xfrm>
            <a:off x="7814603" y="388620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5" name="Shape 103"/>
          <p:cNvSpPr/>
          <p:nvPr/>
        </p:nvSpPr>
        <p:spPr>
          <a:xfrm>
            <a:off x="8447649" y="3886200"/>
            <a:ext cx="633046" cy="411480"/>
          </a:xfrm>
          <a:prstGeom prst="rect">
            <a:avLst/>
          </a:prstGeom>
          <a:solidFill>
            <a:srgbClr val="F5F5F0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6" name="Shape 104"/>
          <p:cNvSpPr/>
          <p:nvPr/>
        </p:nvSpPr>
        <p:spPr>
          <a:xfrm>
            <a:off x="9080695" y="388620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7" name="Shape 105"/>
          <p:cNvSpPr/>
          <p:nvPr/>
        </p:nvSpPr>
        <p:spPr>
          <a:xfrm>
            <a:off x="9713742" y="388620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8" name="Shape 106"/>
          <p:cNvSpPr/>
          <p:nvPr/>
        </p:nvSpPr>
        <p:spPr>
          <a:xfrm>
            <a:off x="10346788" y="388620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9" name="Shape 107"/>
          <p:cNvSpPr/>
          <p:nvPr/>
        </p:nvSpPr>
        <p:spPr>
          <a:xfrm>
            <a:off x="10979834" y="3886200"/>
            <a:ext cx="633046" cy="411480"/>
          </a:xfrm>
          <a:prstGeom prst="rect">
            <a:avLst/>
          </a:prstGeom>
          <a:solidFill>
            <a:srgbClr val="F5F5F0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0" name="Shape 108"/>
          <p:cNvSpPr/>
          <p:nvPr/>
        </p:nvSpPr>
        <p:spPr>
          <a:xfrm>
            <a:off x="6585087" y="3959352"/>
            <a:ext cx="2459033" cy="265176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1" name="Text 109"/>
          <p:cNvSpPr/>
          <p:nvPr/>
        </p:nvSpPr>
        <p:spPr>
          <a:xfrm>
            <a:off x="548640" y="4297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06. テスト・QA</a:t>
            </a:r>
            <a:endParaRPr lang="en-US" sz="1100" dirty="0"/>
          </a:p>
        </p:txBody>
      </p:sp>
      <p:sp>
        <p:nvSpPr>
          <p:cNvPr id="112" name="Shape 110"/>
          <p:cNvSpPr/>
          <p:nvPr/>
        </p:nvSpPr>
        <p:spPr>
          <a:xfrm>
            <a:off x="3383280" y="4297680"/>
            <a:ext cx="633046" cy="411480"/>
          </a:xfrm>
          <a:prstGeom prst="rect">
            <a:avLst/>
          </a:prstGeom>
          <a:solidFill>
            <a:srgbClr val="F5F5F0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3" name="Shape 111"/>
          <p:cNvSpPr/>
          <p:nvPr/>
        </p:nvSpPr>
        <p:spPr>
          <a:xfrm>
            <a:off x="4016326" y="429768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4" name="Shape 112"/>
          <p:cNvSpPr/>
          <p:nvPr/>
        </p:nvSpPr>
        <p:spPr>
          <a:xfrm>
            <a:off x="4649372" y="429768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5" name="Shape 113"/>
          <p:cNvSpPr/>
          <p:nvPr/>
        </p:nvSpPr>
        <p:spPr>
          <a:xfrm>
            <a:off x="5282418" y="429768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6" name="Shape 114"/>
          <p:cNvSpPr/>
          <p:nvPr/>
        </p:nvSpPr>
        <p:spPr>
          <a:xfrm>
            <a:off x="5915465" y="4297680"/>
            <a:ext cx="633046" cy="411480"/>
          </a:xfrm>
          <a:prstGeom prst="rect">
            <a:avLst/>
          </a:prstGeom>
          <a:solidFill>
            <a:srgbClr val="F5F5F0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7" name="Shape 115"/>
          <p:cNvSpPr/>
          <p:nvPr/>
        </p:nvSpPr>
        <p:spPr>
          <a:xfrm>
            <a:off x="6548511" y="429768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8" name="Shape 116"/>
          <p:cNvSpPr/>
          <p:nvPr/>
        </p:nvSpPr>
        <p:spPr>
          <a:xfrm>
            <a:off x="7181557" y="429768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9" name="Shape 117"/>
          <p:cNvSpPr/>
          <p:nvPr/>
        </p:nvSpPr>
        <p:spPr>
          <a:xfrm>
            <a:off x="7814603" y="429768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0" name="Shape 118"/>
          <p:cNvSpPr/>
          <p:nvPr/>
        </p:nvSpPr>
        <p:spPr>
          <a:xfrm>
            <a:off x="8447649" y="4297680"/>
            <a:ext cx="633046" cy="411480"/>
          </a:xfrm>
          <a:prstGeom prst="rect">
            <a:avLst/>
          </a:prstGeom>
          <a:solidFill>
            <a:srgbClr val="F5F5F0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1" name="Shape 119"/>
          <p:cNvSpPr/>
          <p:nvPr/>
        </p:nvSpPr>
        <p:spPr>
          <a:xfrm>
            <a:off x="9080695" y="429768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2" name="Shape 120"/>
          <p:cNvSpPr/>
          <p:nvPr/>
        </p:nvSpPr>
        <p:spPr>
          <a:xfrm>
            <a:off x="9713742" y="429768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3" name="Shape 121"/>
          <p:cNvSpPr/>
          <p:nvPr/>
        </p:nvSpPr>
        <p:spPr>
          <a:xfrm>
            <a:off x="10346788" y="429768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4" name="Shape 122"/>
          <p:cNvSpPr/>
          <p:nvPr/>
        </p:nvSpPr>
        <p:spPr>
          <a:xfrm>
            <a:off x="10979834" y="4297680"/>
            <a:ext cx="633046" cy="411480"/>
          </a:xfrm>
          <a:prstGeom prst="rect">
            <a:avLst/>
          </a:prstGeom>
          <a:solidFill>
            <a:srgbClr val="F5F5F0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5" name="Shape 123"/>
          <p:cNvSpPr/>
          <p:nvPr/>
        </p:nvSpPr>
        <p:spPr>
          <a:xfrm>
            <a:off x="9117271" y="4370832"/>
            <a:ext cx="1192940" cy="265176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6" name="Text 124"/>
          <p:cNvSpPr/>
          <p:nvPr/>
        </p:nvSpPr>
        <p:spPr>
          <a:xfrm>
            <a:off x="548640" y="47091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07. 公開・運用引継ぎ</a:t>
            </a:r>
            <a:endParaRPr lang="en-US" sz="1100" dirty="0"/>
          </a:p>
        </p:txBody>
      </p:sp>
      <p:sp>
        <p:nvSpPr>
          <p:cNvPr id="127" name="Shape 125"/>
          <p:cNvSpPr/>
          <p:nvPr/>
        </p:nvSpPr>
        <p:spPr>
          <a:xfrm>
            <a:off x="3383280" y="4709160"/>
            <a:ext cx="633046" cy="411480"/>
          </a:xfrm>
          <a:prstGeom prst="rect">
            <a:avLst/>
          </a:prstGeom>
          <a:solidFill>
            <a:srgbClr val="F5F5F0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8" name="Shape 126"/>
          <p:cNvSpPr/>
          <p:nvPr/>
        </p:nvSpPr>
        <p:spPr>
          <a:xfrm>
            <a:off x="4016326" y="470916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9" name="Shape 127"/>
          <p:cNvSpPr/>
          <p:nvPr/>
        </p:nvSpPr>
        <p:spPr>
          <a:xfrm>
            <a:off x="4649372" y="470916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0" name="Shape 128"/>
          <p:cNvSpPr/>
          <p:nvPr/>
        </p:nvSpPr>
        <p:spPr>
          <a:xfrm>
            <a:off x="5282418" y="470916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1" name="Shape 129"/>
          <p:cNvSpPr/>
          <p:nvPr/>
        </p:nvSpPr>
        <p:spPr>
          <a:xfrm>
            <a:off x="5915465" y="4709160"/>
            <a:ext cx="633046" cy="411480"/>
          </a:xfrm>
          <a:prstGeom prst="rect">
            <a:avLst/>
          </a:prstGeom>
          <a:solidFill>
            <a:srgbClr val="F5F5F0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2" name="Shape 130"/>
          <p:cNvSpPr/>
          <p:nvPr/>
        </p:nvSpPr>
        <p:spPr>
          <a:xfrm>
            <a:off x="6548511" y="470916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3" name="Shape 131"/>
          <p:cNvSpPr/>
          <p:nvPr/>
        </p:nvSpPr>
        <p:spPr>
          <a:xfrm>
            <a:off x="7181557" y="470916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4" name="Shape 132"/>
          <p:cNvSpPr/>
          <p:nvPr/>
        </p:nvSpPr>
        <p:spPr>
          <a:xfrm>
            <a:off x="7814603" y="470916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5" name="Shape 133"/>
          <p:cNvSpPr/>
          <p:nvPr/>
        </p:nvSpPr>
        <p:spPr>
          <a:xfrm>
            <a:off x="8447649" y="4709160"/>
            <a:ext cx="633046" cy="411480"/>
          </a:xfrm>
          <a:prstGeom prst="rect">
            <a:avLst/>
          </a:prstGeom>
          <a:solidFill>
            <a:srgbClr val="F5F5F0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6" name="Shape 134"/>
          <p:cNvSpPr/>
          <p:nvPr/>
        </p:nvSpPr>
        <p:spPr>
          <a:xfrm>
            <a:off x="9080695" y="470916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7" name="Shape 135"/>
          <p:cNvSpPr/>
          <p:nvPr/>
        </p:nvSpPr>
        <p:spPr>
          <a:xfrm>
            <a:off x="9713742" y="470916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8" name="Shape 136"/>
          <p:cNvSpPr/>
          <p:nvPr/>
        </p:nvSpPr>
        <p:spPr>
          <a:xfrm>
            <a:off x="10346788" y="4709160"/>
            <a:ext cx="633046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9" name="Shape 137"/>
          <p:cNvSpPr/>
          <p:nvPr/>
        </p:nvSpPr>
        <p:spPr>
          <a:xfrm>
            <a:off x="10979834" y="4709160"/>
            <a:ext cx="633046" cy="411480"/>
          </a:xfrm>
          <a:prstGeom prst="rect">
            <a:avLst/>
          </a:prstGeom>
          <a:solidFill>
            <a:srgbClr val="F5F5F0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0" name="Shape 138"/>
          <p:cNvSpPr/>
          <p:nvPr/>
        </p:nvSpPr>
        <p:spPr>
          <a:xfrm>
            <a:off x="10383364" y="4782312"/>
            <a:ext cx="1192940" cy="265176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1" name="Text 139"/>
          <p:cNvSpPr/>
          <p:nvPr/>
        </p:nvSpPr>
        <p:spPr>
          <a:xfrm>
            <a:off x="548640" y="5394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9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マイルストーン</a:t>
            </a:r>
            <a:endParaRPr lang="en-US" sz="1100" dirty="0"/>
          </a:p>
        </p:txBody>
      </p:sp>
      <p:sp>
        <p:nvSpPr>
          <p:cNvPr id="142" name="Shape 140"/>
          <p:cNvSpPr/>
          <p:nvPr/>
        </p:nvSpPr>
        <p:spPr>
          <a:xfrm>
            <a:off x="548640" y="5806440"/>
            <a:ext cx="320040" cy="3200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3" name="Text 141"/>
          <p:cNvSpPr/>
          <p:nvPr/>
        </p:nvSpPr>
        <p:spPr>
          <a:xfrm>
            <a:off x="548640" y="5806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W2</a:t>
            </a:r>
            <a:endParaRPr lang="en-US" sz="900" dirty="0"/>
          </a:p>
        </p:txBody>
      </p:sp>
      <p:sp>
        <p:nvSpPr>
          <p:cNvPr id="144" name="Text 142"/>
          <p:cNvSpPr/>
          <p:nvPr/>
        </p:nvSpPr>
        <p:spPr>
          <a:xfrm>
            <a:off x="960120" y="5806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要件確定</a:t>
            </a:r>
            <a:endParaRPr lang="en-US" sz="1200" dirty="0"/>
          </a:p>
        </p:txBody>
      </p:sp>
      <p:sp>
        <p:nvSpPr>
          <p:cNvPr id="145" name="Shape 143"/>
          <p:cNvSpPr/>
          <p:nvPr/>
        </p:nvSpPr>
        <p:spPr>
          <a:xfrm>
            <a:off x="3383280" y="5806440"/>
            <a:ext cx="320040" cy="3200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6" name="Text 144"/>
          <p:cNvSpPr/>
          <p:nvPr/>
        </p:nvSpPr>
        <p:spPr>
          <a:xfrm>
            <a:off x="3383280" y="5806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W5</a:t>
            </a:r>
            <a:endParaRPr lang="en-US" sz="900" dirty="0"/>
          </a:p>
        </p:txBody>
      </p:sp>
      <p:sp>
        <p:nvSpPr>
          <p:cNvPr id="147" name="Text 145"/>
          <p:cNvSpPr/>
          <p:nvPr/>
        </p:nvSpPr>
        <p:spPr>
          <a:xfrm>
            <a:off x="3794760" y="5806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デザイン確定</a:t>
            </a:r>
            <a:endParaRPr lang="en-US" sz="1200" dirty="0"/>
          </a:p>
        </p:txBody>
      </p:sp>
      <p:sp>
        <p:nvSpPr>
          <p:cNvPr id="148" name="Shape 146"/>
          <p:cNvSpPr/>
          <p:nvPr/>
        </p:nvSpPr>
        <p:spPr>
          <a:xfrm>
            <a:off x="6217920" y="5806440"/>
            <a:ext cx="320040" cy="3200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9" name="Text 147"/>
          <p:cNvSpPr/>
          <p:nvPr/>
        </p:nvSpPr>
        <p:spPr>
          <a:xfrm>
            <a:off x="6217920" y="5806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W9</a:t>
            </a:r>
            <a:endParaRPr lang="en-US" sz="900" dirty="0"/>
          </a:p>
        </p:txBody>
      </p:sp>
      <p:sp>
        <p:nvSpPr>
          <p:cNvPr id="150" name="Text 148"/>
          <p:cNvSpPr/>
          <p:nvPr/>
        </p:nvSpPr>
        <p:spPr>
          <a:xfrm>
            <a:off x="6629400" y="5806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β版確認</a:t>
            </a:r>
            <a:endParaRPr lang="en-US" sz="1200" dirty="0"/>
          </a:p>
        </p:txBody>
      </p:sp>
      <p:sp>
        <p:nvSpPr>
          <p:cNvPr id="151" name="Shape 149"/>
          <p:cNvSpPr/>
          <p:nvPr/>
        </p:nvSpPr>
        <p:spPr>
          <a:xfrm>
            <a:off x="9052560" y="5806440"/>
            <a:ext cx="320040" cy="3200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2" name="Text 150"/>
          <p:cNvSpPr/>
          <p:nvPr/>
        </p:nvSpPr>
        <p:spPr>
          <a:xfrm>
            <a:off x="9052560" y="5806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W13</a:t>
            </a:r>
            <a:endParaRPr lang="en-US" sz="900" dirty="0"/>
          </a:p>
        </p:txBody>
      </p:sp>
      <p:sp>
        <p:nvSpPr>
          <p:cNvPr id="153" name="Text 151"/>
          <p:cNvSpPr/>
          <p:nvPr/>
        </p:nvSpPr>
        <p:spPr>
          <a:xfrm>
            <a:off x="9464040" y="5806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本番公開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417320" y="384048"/>
            <a:ext cx="18288" cy="4114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600200" y="365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お見積もり (概算)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HPリニューアルご提案 / Z&amp;GLOBAL株式会社 御中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905695" y="6446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v1.0 / 2026-05-20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基本パッケージ 198 万円 / 追加機能はメニュー方式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5029200" cy="301752"/>
          </a:xfrm>
          <a:prstGeom prst="rect">
            <a:avLst/>
          </a:prstGeom>
          <a:solidFill>
            <a:srgbClr val="0F1F3D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685800" y="1371600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項目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77840" y="1371600"/>
            <a:ext cx="4023360" cy="301752"/>
          </a:xfrm>
          <a:prstGeom prst="rect">
            <a:avLst/>
          </a:prstGeom>
          <a:solidFill>
            <a:srgbClr val="0F1F3D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715000" y="137160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内容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01200" y="1371600"/>
            <a:ext cx="2057400" cy="301752"/>
          </a:xfrm>
          <a:prstGeom prst="rect">
            <a:avLst/>
          </a:prstGeom>
          <a:solidFill>
            <a:srgbClr val="0F1F3D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9738360" y="1371600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金額 (税抜)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1673352"/>
            <a:ext cx="5029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685800" y="167335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要件定義・情報設計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77840" y="1673352"/>
            <a:ext cx="4023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5715000" y="167335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現状分析 / サイトマップ / WF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601200" y="1673352"/>
            <a:ext cx="2057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9738360" y="1673352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¥ 350,000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1975104"/>
            <a:ext cx="5029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85800" y="1975104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デザイン (TOP + 下層 4 種)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577840" y="1975104"/>
            <a:ext cx="4023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5715000" y="197510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中文 / 英語 翻訳カンプ含む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601200" y="1975104"/>
            <a:ext cx="2057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9738360" y="1975104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¥ 480,000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2276856"/>
            <a:ext cx="5029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685800" y="2276856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フロントエンド実装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577840" y="2276856"/>
            <a:ext cx="4023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5715000" y="227685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Next.js / モバイル対応 / アクセシビリティ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601200" y="2276856"/>
            <a:ext cx="2057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9738360" y="2276856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¥ 520,000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2578608"/>
            <a:ext cx="5029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685800" y="2578608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4. CMS (Headless) 構築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577840" y="2578608"/>
            <a:ext cx="4023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/>
          <p:nvPr/>
        </p:nvSpPr>
        <p:spPr>
          <a:xfrm>
            <a:off x="5715000" y="257860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車両 / 料金 / お知らせ管理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601200" y="2578608"/>
            <a:ext cx="2057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/>
          <p:nvPr/>
        </p:nvSpPr>
        <p:spPr>
          <a:xfrm>
            <a:off x="9738360" y="2578608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¥ 280,000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2880360"/>
            <a:ext cx="5029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Text 37"/>
          <p:cNvSpPr/>
          <p:nvPr/>
        </p:nvSpPr>
        <p:spPr>
          <a:xfrm>
            <a:off x="685800" y="2880360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5. オンライン予約 + Stripe 決済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577840" y="2880360"/>
            <a:ext cx="4023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/>
          <p:nvPr/>
        </p:nvSpPr>
        <p:spPr>
          <a:xfrm>
            <a:off x="5715000" y="288036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予約管理画面 / メール通知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601200" y="2880360"/>
            <a:ext cx="2057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Text 41"/>
          <p:cNvSpPr/>
          <p:nvPr/>
        </p:nvSpPr>
        <p:spPr>
          <a:xfrm>
            <a:off x="9738360" y="2880360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¥ 280,000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8640" y="3182112"/>
            <a:ext cx="5029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Text 43"/>
          <p:cNvSpPr/>
          <p:nvPr/>
        </p:nvSpPr>
        <p:spPr>
          <a:xfrm>
            <a:off x="685800" y="318211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6. 多言語 (日 / 英 / 簡 / 繁) 構築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577840" y="3182112"/>
            <a:ext cx="4023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7" name="Text 45"/>
          <p:cNvSpPr/>
          <p:nvPr/>
        </p:nvSpPr>
        <p:spPr>
          <a:xfrm>
            <a:off x="5715000" y="318211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hreflang / sitemap 含む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601200" y="3182112"/>
            <a:ext cx="2057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9" name="Text 47"/>
          <p:cNvSpPr/>
          <p:nvPr/>
        </p:nvSpPr>
        <p:spPr>
          <a:xfrm>
            <a:off x="9738360" y="3182112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¥ 180,000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48640" y="3483864"/>
            <a:ext cx="5029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1" name="Text 49"/>
          <p:cNvSpPr/>
          <p:nvPr/>
        </p:nvSpPr>
        <p:spPr>
          <a:xfrm>
            <a:off x="685800" y="3483864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7. QA・SEO 対策・公開作業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577840" y="3483864"/>
            <a:ext cx="4023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Text 51"/>
          <p:cNvSpPr/>
          <p:nvPr/>
        </p:nvSpPr>
        <p:spPr>
          <a:xfrm>
            <a:off x="5715000" y="348386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Lighthouse 90+ 保証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9601200" y="3483864"/>
            <a:ext cx="2057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Text 53"/>
          <p:cNvSpPr/>
          <p:nvPr/>
        </p:nvSpPr>
        <p:spPr>
          <a:xfrm>
            <a:off x="9738360" y="3483864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¥ 120,000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48640" y="3785616"/>
            <a:ext cx="50292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5"/>
          <p:cNvSpPr/>
          <p:nvPr/>
        </p:nvSpPr>
        <p:spPr>
          <a:xfrm>
            <a:off x="685800" y="3785616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8. ディレクション・PM (3 ヶ月)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577840" y="3785616"/>
            <a:ext cx="4023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9" name="Text 57"/>
          <p:cNvSpPr/>
          <p:nvPr/>
        </p:nvSpPr>
        <p:spPr>
          <a:xfrm>
            <a:off x="5715000" y="378561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隔週定例・チャット随時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9601200" y="3785616"/>
            <a:ext cx="205740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1" name="Text 59"/>
          <p:cNvSpPr/>
          <p:nvPr/>
        </p:nvSpPr>
        <p:spPr>
          <a:xfrm>
            <a:off x="9738360" y="3785616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¥ 220,000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548640" y="4087368"/>
            <a:ext cx="5029200" cy="301752"/>
          </a:xfrm>
          <a:prstGeom prst="rect">
            <a:avLst/>
          </a:prstGeom>
          <a:solidFill>
            <a:srgbClr val="F7F3EA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61"/>
          <p:cNvSpPr/>
          <p:nvPr/>
        </p:nvSpPr>
        <p:spPr>
          <a:xfrm>
            <a:off x="685800" y="4087368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F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基本パッケージ 計 (税抜)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5577840" y="4087368"/>
            <a:ext cx="4023360" cy="301752"/>
          </a:xfrm>
          <a:prstGeom prst="rect">
            <a:avLst/>
          </a:prstGeom>
          <a:solidFill>
            <a:srgbClr val="F7F3EA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Text 63"/>
          <p:cNvSpPr/>
          <p:nvPr/>
        </p:nvSpPr>
        <p:spPr>
          <a:xfrm>
            <a:off x="5715000" y="408736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9601200" y="4087368"/>
            <a:ext cx="2057400" cy="301752"/>
          </a:xfrm>
          <a:prstGeom prst="rect">
            <a:avLst/>
          </a:prstGeom>
          <a:solidFill>
            <a:srgbClr val="F7F3EA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7" name="Text 65"/>
          <p:cNvSpPr/>
          <p:nvPr/>
        </p:nvSpPr>
        <p:spPr>
          <a:xfrm>
            <a:off x="9738360" y="4087368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¥ 2,430,000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548640" y="4389120"/>
            <a:ext cx="5029200" cy="301752"/>
          </a:xfrm>
          <a:prstGeom prst="rect">
            <a:avLst/>
          </a:prstGeom>
          <a:solidFill>
            <a:srgbClr val="FFF5CC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9" name="Text 67"/>
          <p:cNvSpPr/>
          <p:nvPr/>
        </p:nvSpPr>
        <p:spPr>
          <a:xfrm>
            <a:off x="685800" y="4389120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8893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特別ディスカウント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5577840" y="4389120"/>
            <a:ext cx="4023360" cy="301752"/>
          </a:xfrm>
          <a:prstGeom prst="rect">
            <a:avLst/>
          </a:prstGeom>
          <a:solidFill>
            <a:srgbClr val="FFF5CC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1" name="Text 69"/>
          <p:cNvSpPr/>
          <p:nvPr/>
        </p:nvSpPr>
        <p:spPr>
          <a:xfrm>
            <a:off x="5715000" y="438912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8893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初年度ご契約特典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9601200" y="4389120"/>
            <a:ext cx="2057400" cy="301752"/>
          </a:xfrm>
          <a:prstGeom prst="rect">
            <a:avLst/>
          </a:prstGeom>
          <a:solidFill>
            <a:srgbClr val="FFF5CC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3" name="Text 71"/>
          <p:cNvSpPr/>
          <p:nvPr/>
        </p:nvSpPr>
        <p:spPr>
          <a:xfrm>
            <a:off x="9738360" y="4389120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A889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▲ ¥ 630,000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548640" y="4690872"/>
            <a:ext cx="5029200" cy="301752"/>
          </a:xfrm>
          <a:prstGeom prst="rect">
            <a:avLst/>
          </a:prstGeom>
          <a:solidFill>
            <a:srgbClr val="F7F3EA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5" name="Text 73"/>
          <p:cNvSpPr/>
          <p:nvPr/>
        </p:nvSpPr>
        <p:spPr>
          <a:xfrm>
            <a:off x="685800" y="469087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F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合計 (税抜)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5577840" y="4690872"/>
            <a:ext cx="4023360" cy="301752"/>
          </a:xfrm>
          <a:prstGeom prst="rect">
            <a:avLst/>
          </a:prstGeom>
          <a:solidFill>
            <a:srgbClr val="F7F3EA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7" name="Text 75"/>
          <p:cNvSpPr/>
          <p:nvPr/>
        </p:nvSpPr>
        <p:spPr>
          <a:xfrm>
            <a:off x="5715000" y="469087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9601200" y="4690872"/>
            <a:ext cx="2057400" cy="301752"/>
          </a:xfrm>
          <a:prstGeom prst="rect">
            <a:avLst/>
          </a:prstGeom>
          <a:solidFill>
            <a:srgbClr val="F7F3EA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9" name="Text 77"/>
          <p:cNvSpPr/>
          <p:nvPr/>
        </p:nvSpPr>
        <p:spPr>
          <a:xfrm>
            <a:off x="9738360" y="4690872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¥ 1,800,000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548640" y="4992624"/>
            <a:ext cx="5029200" cy="301752"/>
          </a:xfrm>
          <a:prstGeom prst="rect">
            <a:avLst/>
          </a:prstGeom>
          <a:solidFill>
            <a:srgbClr val="C9A961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1" name="Text 79"/>
          <p:cNvSpPr/>
          <p:nvPr/>
        </p:nvSpPr>
        <p:spPr>
          <a:xfrm>
            <a:off x="685800" y="4992624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F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合計 (税込 10%)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5577840" y="4992624"/>
            <a:ext cx="4023360" cy="301752"/>
          </a:xfrm>
          <a:prstGeom prst="rect">
            <a:avLst/>
          </a:prstGeom>
          <a:solidFill>
            <a:srgbClr val="C9A961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3" name="Text 81"/>
          <p:cNvSpPr/>
          <p:nvPr/>
        </p:nvSpPr>
        <p:spPr>
          <a:xfrm>
            <a:off x="5715000" y="49926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9601200" y="4992624"/>
            <a:ext cx="2057400" cy="301752"/>
          </a:xfrm>
          <a:prstGeom prst="rect">
            <a:avLst/>
          </a:prstGeom>
          <a:solidFill>
            <a:srgbClr val="C9A961"/>
          </a:solidFill>
          <a:ln w="381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5" name="Text 83"/>
          <p:cNvSpPr/>
          <p:nvPr/>
        </p:nvSpPr>
        <p:spPr>
          <a:xfrm>
            <a:off x="9738360" y="4992624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¥ 1,980,000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548640" y="5532120"/>
            <a:ext cx="11109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C9A9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r>
              <a:rPr lang="en-US" sz="10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上記は基本パッケージのみ。多言語の翻訳実費 (1 言語 50 円 / 文字)、ストック画像/撮影費は別途。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C9A9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r>
              <a:rPr lang="en-US" sz="10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公開後の保守 (月額 38,000 円〜) を別途ご提案します。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C9A9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r>
              <a:rPr lang="en-US" sz="10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本見積は 2026/06/30 までのご発注を前提とした金額です。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417320" y="384048"/>
            <a:ext cx="18288" cy="4114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600200" y="365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体制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HPリニューアルご提案 / Z&amp;GLOBAL株式会社 御中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905695" y="6446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v1.0 / 2026-05-20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4 名 + Z&amp;GLOBAL 様 1 名 = 5 名チーム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1645920"/>
            <a:ext cx="2697480" cy="2926080"/>
          </a:xfrm>
          <a:prstGeom prst="rect">
            <a:avLst/>
          </a:prstGeom>
          <a:solidFill>
            <a:srgbClr val="0F1F3D"/>
          </a:solidFill>
          <a:ln w="6350">
            <a:solidFill>
              <a:srgbClr val="0F1F3D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1348740" y="2011680"/>
            <a:ext cx="1005840" cy="100584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1348740" y="2011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院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A9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プロジェクトマネージャー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院 光雄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977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ハイヤー運営会社様向け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業務システム導入を統括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37560" y="1645920"/>
            <a:ext cx="2697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4183380" y="2011680"/>
            <a:ext cx="1005840" cy="100584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4183380" y="2011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康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474720" y="31546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UI / UX &amp; フロントエンド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35661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康 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74720" y="3977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Next.js / 多言語対応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Webサイト構築 経験豊富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1645920"/>
            <a:ext cx="2697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7018020" y="2011680"/>
            <a:ext cx="1005840" cy="100584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7018020" y="2011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侯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309360" y="31546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バックエンド / 予約システム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35661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侯 迪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09360" y="3977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Stripe決済 / 予約管理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システムの設計・実装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006840" y="1645920"/>
            <a:ext cx="2697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101600" dist="381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9852660" y="2011680"/>
            <a:ext cx="1005840" cy="100584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9852660" y="2011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李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9144000" y="31546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多言語 QA (中・英)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44000" y="35661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李 瑩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44000" y="39776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ネイティブ校正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簡体字 / 繁體字 / English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800600"/>
            <a:ext cx="11109960" cy="1463040"/>
          </a:xfrm>
          <a:prstGeom prst="rect">
            <a:avLst/>
          </a:prstGeom>
          <a:solidFill>
            <a:srgbClr val="F7F3EA"/>
          </a:solidFill>
          <a:ln w="635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1"/>
          <p:cNvSpPr/>
          <p:nvPr/>
        </p:nvSpPr>
        <p:spPr>
          <a:xfrm>
            <a:off x="77724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9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Z&amp;GLOBAL 様にご担当いただきたい役割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7240" y="53492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 </a:t>
            </a:r>
            <a:r>
              <a:rPr lang="en-US" sz="13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隔週定例の意思決定者 (1 名)</a:t>
            </a:r>
            <a:r>
              <a:rPr lang="en-US" sz="1300" b="1" dirty="0">
                <a:solidFill>
                  <a:srgbClr val="0F1F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 ② </a:t>
            </a:r>
            <a:r>
              <a:rPr lang="en-US" sz="13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実車両・乗務員の撮影立会</a:t>
            </a:r>
            <a:r>
              <a:rPr lang="en-US" sz="1300" b="1" dirty="0">
                <a:solidFill>
                  <a:srgbClr val="0F1F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 ③ </a:t>
            </a:r>
            <a:r>
              <a:rPr lang="en-US" sz="13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中文・英語の最終ニュアンス確認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上記の負荷感: </a:t>
            </a:r>
            <a:r>
              <a:rPr lang="en-US" sz="1200" b="1" dirty="0">
                <a:solidFill>
                  <a:srgbClr val="0F1F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合計 月 8 時間程度</a:t>
            </a:r>
            <a:r>
              <a:rPr lang="en-US" sz="11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を想定しています。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548640" cy="36576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次のアクション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640080" cy="7315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2788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〜 2026/05/30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25880" y="303580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本提案へのご質問・お見積り内容のフィードバック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640080" cy="7315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548640" y="36118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3657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2026/06/05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25880" y="390448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お打ち合わせ (オンライン 60 分) / スコープ確定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640080" cy="7315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548640" y="44805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4526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2026/06/12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25880" y="477316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契約締結 → 6/15 キックオフ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863840" y="2743200"/>
            <a:ext cx="3794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8092440" y="2880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A961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お問い合わせ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92440" y="3246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F3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FLY 株式会社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092440" y="3703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Vision, Our Wings.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92440" y="4069080"/>
            <a:ext cx="274320" cy="18288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8092440" y="4206240"/>
            <a:ext cx="3383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担当 </a:t>
            </a:r>
            <a:r>
              <a:rPr lang="en-US" sz="1300" b="1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院 光雄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TEL </a:t>
            </a:r>
            <a:r>
              <a:rPr lang="en-US" sz="13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03-6674-2802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MAIL </a:t>
            </a:r>
            <a:r>
              <a:rPr lang="en-US" sz="12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eigyo@fly-japan.jp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WEB </a:t>
            </a:r>
            <a:r>
              <a:rPr lang="en-US" sz="12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www.fly-japan.jp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rgbClr val="6B728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本社 </a:t>
            </a:r>
            <a:r>
              <a:rPr lang="en-US" sz="1000" dirty="0">
                <a:solidFill>
                  <a:srgbClr val="1F293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〒178-0061 東京都練馬区大泉学園町3-5-23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5989320"/>
            <a:ext cx="11109960" cy="36576"/>
          </a:xfrm>
          <a:prstGeom prst="rect">
            <a:avLst/>
          </a:prstGeom>
          <a:solidFill>
            <a:srgbClr val="C9A961">
              <a:alpha val="50000"/>
            </a:srgbClr>
          </a:solidFill>
          <a:ln w="12700">
            <a:solidFill>
              <a:srgbClr val="C9A96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548640" y="612648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— 御社の事業成長を、ウェブの側からご一緒できれば幸いです。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905695" y="6537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B3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v1.0 / 2026-05-20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1420</Words>
  <Application>Microsoft Office PowerPoint</Application>
  <PresentationFormat>ワイド画面</PresentationFormat>
  <Paragraphs>398</Paragraphs>
  <Slides>15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0" baseType="lpstr">
      <vt:lpstr>Yu Gothic UI</vt:lpstr>
      <vt:lpstr>Yu Mincho</vt:lpstr>
      <vt:lpstr>Arial</vt:lpstr>
      <vt:lpstr>Georgia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Z&amp;GLOBAL HPリニューアル提案書</dc:title>
  <dc:subject>PptxGenJS Presentation</dc:subject>
  <dc:creator>Web Design Partner</dc:creator>
  <cp:lastModifiedBy>源遠 湯</cp:lastModifiedBy>
  <cp:revision>1</cp:revision>
  <dcterms:created xsi:type="dcterms:W3CDTF">2026-05-20T04:18:50Z</dcterms:created>
  <dcterms:modified xsi:type="dcterms:W3CDTF">2026-05-20T04:22:29Z</dcterms:modified>
</cp:coreProperties>
</file>